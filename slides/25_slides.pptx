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  <a:srgbClr val="E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23" d="100"/>
          <a:sy n="123" d="100"/>
        </p:scale>
        <p:origin x="1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889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CC-4D04-B38B-F1057118A716}"/>
              </c:ext>
            </c:extLst>
          </c:dPt>
          <c:dPt>
            <c:idx val="1"/>
            <c:invertIfNegative val="0"/>
            <c:bubble3D val="0"/>
            <c:spPr>
              <a:solidFill>
                <a:srgbClr val="0096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CC-4D04-B38B-F1057118A716}"/>
              </c:ext>
            </c:extLst>
          </c:dPt>
          <c:dPt>
            <c:idx val="2"/>
            <c:invertIfNegative val="0"/>
            <c:bubble3D val="0"/>
            <c:spPr>
              <a:solidFill>
                <a:srgbClr val="4B25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CC-4D04-B38B-F1057118A716}"/>
              </c:ext>
            </c:extLst>
          </c:dPt>
          <c:dPt>
            <c:idx val="3"/>
            <c:invertIfNegative val="0"/>
            <c:bubble3D val="0"/>
            <c:spPr>
              <a:solidFill>
                <a:srgbClr val="457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CC-4D04-B38B-F1057118A716}"/>
              </c:ext>
            </c:extLst>
          </c:dPt>
          <c:dPt>
            <c:idx val="4"/>
            <c:invertIfNegative val="0"/>
            <c:bubble3D val="0"/>
            <c:spPr>
              <a:solidFill>
                <a:srgbClr val="457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CC-4D04-B38B-F1057118A716}"/>
              </c:ext>
            </c:extLst>
          </c:dPt>
          <c:dPt>
            <c:idx val="5"/>
            <c:invertIfNegative val="0"/>
            <c:bubble3D val="0"/>
            <c:spPr>
              <a:solidFill>
                <a:srgbClr val="457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CC-4D04-B38B-F1057118A716}"/>
              </c:ext>
            </c:extLst>
          </c:dPt>
          <c:dPt>
            <c:idx val="6"/>
            <c:invertIfNegative val="0"/>
            <c:bubble3D val="0"/>
            <c:spPr>
              <a:solidFill>
                <a:srgbClr val="457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8CC-4D04-B38B-F1057118A71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230"/>
                    </a:solidFill>
                    <a:latin typeface="Verdana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Z-Score</c:v>
                </c:pt>
                <c:pt idx="1">
                  <c:v>F-Score</c:v>
                </c:pt>
                <c:pt idx="2">
                  <c:v>Combined RP</c:v>
                </c:pt>
                <c:pt idx="3">
                  <c:v>S&amp;P 500</c:v>
                </c:pt>
                <c:pt idx="4">
                  <c:v>MSCI Quality</c:v>
                </c:pt>
                <c:pt idx="5">
                  <c:v>Bonds Agg</c:v>
                </c:pt>
                <c:pt idx="6">
                  <c:v>Gold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0.03</c:v>
                </c:pt>
                <c:pt idx="1">
                  <c:v>0.43</c:v>
                </c:pt>
                <c:pt idx="2">
                  <c:v>0.4</c:v>
                </c:pt>
                <c:pt idx="3">
                  <c:v>0.59</c:v>
                </c:pt>
                <c:pt idx="4">
                  <c:v>0.73</c:v>
                </c:pt>
                <c:pt idx="5">
                  <c:v>0.43</c:v>
                </c:pt>
                <c:pt idx="6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8CC-4D04-B38B-F1057118A7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2230"/>
                </a:solidFill>
                <a:latin typeface="Verdan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57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5715000"/>
          </a:xfrm>
          <a:prstGeom prst="rect">
            <a:avLst/>
          </a:prstGeom>
          <a:solidFill>
            <a:srgbClr val="00235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/home/claude/assets/wu_campu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1960" y="0"/>
            <a:ext cx="4892040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51960" y="0"/>
            <a:ext cx="54864" cy="571500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1" descr="/home/claude/assets/wu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2920"/>
            <a:ext cx="2468880" cy="13025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21488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Altman Z-Score &amp;</a:t>
            </a:r>
            <a:endParaRPr lang="en-US" sz="27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Piotroski F-Score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02920" y="34564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Financial-strength factors and the distress anomaly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02920" y="4069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6C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Evidence from the Global Factor Data (Jensen-Kelly-Pedersen, 2023)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02920" y="4709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Mirko Balli  ·  Lorenzo Attanasio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Group 25  ·  5376 Asset / Risk Management I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WU Vienna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A  -  FACTOR SELECTION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Lenses on Financial Strength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From the Global Factor Data we pick two fundamentals-based </a:t>
            </a:r>
            <a:r>
              <a:rPr lang="en-US" sz="13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quality</a:t>
            </a:r>
            <a:r>
              <a:rPr lang="en-US" sz="13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factors. The contrarian instinct says: buy distressed firms and profit from their recovery. We test whether the market actually rewards that bet.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926080"/>
            <a:ext cx="4160520" cy="105156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02920" y="2926080"/>
            <a:ext cx="64008" cy="105156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04088" y="2962656"/>
            <a:ext cx="3831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Research question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Is financial strength priced in the cross-section, and does betting on distress pay off?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1417320"/>
            <a:ext cx="36576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983480" y="1417320"/>
            <a:ext cx="3657600" cy="457200"/>
          </a:xfrm>
          <a:prstGeom prst="rect">
            <a:avLst/>
          </a:prstGeom>
          <a:solidFill>
            <a:srgbClr val="0023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148072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Altman Z-Score</a:t>
            </a:r>
            <a:r>
              <a:rPr lang="en-US" sz="950" dirty="0">
                <a:solidFill>
                  <a:srgbClr val="80CFE9"/>
                </a:solidFill>
              </a:rPr>
              <a:t>   1968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48072" y="1947672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Distance to bankruptcy from five balance-sheet ratios. Captures the LEVEL of health: how safe is the firm today?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83480" y="2852928"/>
            <a:ext cx="36576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983480" y="2852928"/>
            <a:ext cx="3657600" cy="45720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148072" y="2852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Piotroski F-Score</a:t>
            </a:r>
            <a:r>
              <a:rPr lang="en-US" sz="950" dirty="0">
                <a:solidFill>
                  <a:srgbClr val="80CFE9"/>
                </a:solidFill>
              </a:rPr>
              <a:t>   2000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48072" y="3383280"/>
            <a:ext cx="3346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Nine binary accounting signals (score 0-9). Captures the DIRECTION of fundamentals: is the firm improving?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297680"/>
            <a:ext cx="8229600" cy="658368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502920" y="4297680"/>
            <a:ext cx="64008" cy="658368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04088" y="4334256"/>
            <a:ext cx="7900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Both sit in the JKP </a:t>
            </a:r>
            <a:r>
              <a:rPr lang="en-US" sz="11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Quality</a:t>
            </a: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theme: Z proxies 'safety', F 'fundamental strength’: the pillars of Quality-minus-Junk (Asness et al., 2019).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B  -  INTERPRETATION &amp; RELATIONSHIP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vs. Direction, and the Distress Anomaly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Both factors are long-short: long high-score (safe / improving) firms, short low-score (distressed / weak).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Contrarian theory: distressed firms are riskier, so they ought to earn a premium.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distress anomaly says the opposite: distressed stocks systematically underperform (Campbell-Hilscher-Szilagyi 2008; Dichev 1998).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So, the real edge is not 'cheap' but 'improving’, exactly what Piotroski (2000) sorts on.</a:t>
            </a:r>
            <a:endParaRPr lang="en-US" sz="1150" dirty="0"/>
          </a:p>
        </p:txBody>
      </p:sp>
      <p:pic>
        <p:nvPicPr>
          <p:cNvPr id="6" name="Image 1" descr="/home/claude/figs_png/fig5_rolling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17320"/>
            <a:ext cx="3749040" cy="1874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3480" y="3310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Rolling 60-month correlation: mostly negative over time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983480" y="3657600"/>
            <a:ext cx="3749040" cy="137160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5"/>
          <p:cNvSpPr/>
          <p:nvPr/>
        </p:nvSpPr>
        <p:spPr>
          <a:xfrm>
            <a:off x="4983480" y="3657600"/>
            <a:ext cx="64008" cy="137160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5184648" y="3694176"/>
            <a:ext cx="34198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Key correlations (full sample)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Z-Score vs F-Score:   </a:t>
            </a:r>
            <a:r>
              <a:rPr lang="en-US" sz="105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-0.36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Z-Score vs Quality:   </a:t>
            </a:r>
            <a:r>
              <a:rPr lang="en-US" sz="105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+0.56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 vs Market:   </a:t>
            </a:r>
            <a:r>
              <a:rPr lang="en-US" sz="105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-0.37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405A7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 is defensive; Z aligns with the Quality theme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C  -  FULL-SAMPLE PERFORMANCE &amp; RISK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Return and Significance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4160520" cy="167335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Factor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Vol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0.32%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10.99%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0.03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0.21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3.23%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7.52%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0.43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3.28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Quality Cluster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2.55%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12.28%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0.21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2.88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Market VW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8.22%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18.38%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4.32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Market EW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11.26%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25.12%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4.05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3257343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Annualised, full sample. t = Newey-West. Quality skewed by a 1932 outlier; post-1962 Sharpe 0.60 (as charted).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02920" y="3767328"/>
            <a:ext cx="4160520" cy="100584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502920" y="3767328"/>
            <a:ext cx="64008" cy="100584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704088" y="3803904"/>
            <a:ext cx="3831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Only F-Score clears the Harvey-Liu-Zhu hurdle of t &gt; 3 </a:t>
            </a:r>
            <a:r>
              <a:rPr lang="en-US" sz="11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(t = 3.28)</a:t>
            </a: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 Z-Score is indistinguishable from zero.</a:t>
            </a:r>
            <a:endParaRPr lang="en-US" sz="1100" dirty="0"/>
          </a:p>
        </p:txBody>
      </p:sp>
      <p:pic>
        <p:nvPicPr>
          <p:cNvPr id="10" name="Image 1" descr="/home/claude/figs_png/fig1_cumulative_retu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4480"/>
            <a:ext cx="3931920" cy="23591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00600" y="407739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Growth of $1, excess returns (log scale), common sample from 1962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C  -  WHERE THE PREMIUM COMES FROM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Leg vs. Short Leg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0925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factor is split into its safe/strong leg (top tercile) and distressed/weak leg (bottom tercile) to see where returns originate.</a:t>
            </a:r>
            <a:endParaRPr lang="en-US" sz="1150" dirty="0"/>
          </a:p>
        </p:txBody>
      </p:sp>
      <p:pic>
        <p:nvPicPr>
          <p:cNvPr id="6" name="Image 1" descr="/home/claude/figs_png/fig2a_legs_z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74520"/>
            <a:ext cx="4206240" cy="2523744"/>
          </a:xfrm>
          <a:prstGeom prst="rect">
            <a:avLst/>
          </a:prstGeom>
        </p:spPr>
      </p:pic>
      <p:pic>
        <p:nvPicPr>
          <p:cNvPr id="7" name="Image 2" descr="/home/claude/figs_png/fig2b_legs_f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874520"/>
            <a:ext cx="4206240" cy="2523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Z-Score: both legs grow alike  -&gt;  no premium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461772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F-Score: strong clearly beats weak  -&gt;  real premium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C  -  STABILITY &amp; REGIMES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Performance Through Regimes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pic>
        <p:nvPicPr>
          <p:cNvPr id="5" name="Image 1" descr="/home/claude/figs_png/fig3_rolling_shar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4160520" cy="2084832"/>
          </a:xfrm>
          <a:prstGeom prst="rect">
            <a:avLst/>
          </a:prstGeom>
        </p:spPr>
      </p:pic>
      <p:pic>
        <p:nvPicPr>
          <p:cNvPr id="6" name="Image 2" descr="/home/claude/figs_png/fig6_regime_over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463040"/>
            <a:ext cx="4160520" cy="18928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35661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60-month rolling Sharpe: long flat / negative stretches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4617720" y="35536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Rolling Sharpe vs HY credit spread &amp; NBER recessions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502920" y="4114800"/>
            <a:ext cx="8229600" cy="82296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5"/>
          <p:cNvSpPr/>
          <p:nvPr/>
        </p:nvSpPr>
        <p:spPr>
          <a:xfrm>
            <a:off x="502920" y="4114800"/>
            <a:ext cx="64008" cy="82296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6"/>
          <p:cNvSpPr/>
          <p:nvPr/>
        </p:nvSpPr>
        <p:spPr>
          <a:xfrm>
            <a:off x="704088" y="4151376"/>
            <a:ext cx="7900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Factor premia are time-varying, not constant:</a:t>
            </a: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both factors weaken for years at a time, a key risk-management caveat for the strategy.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C  -  OUT-OF-SAMPLE &amp; PUBLICATION DECAY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Before &amp; After Publication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4572000" cy="201625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Factor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Period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In-sample &lt;=1965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4.05%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0.80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1.48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Pre-pub 1966-67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7.07%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1.10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Post-pub &gt;=1968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-0.15%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-0.01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-0.09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In-sample &lt;=1996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3.83%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4.48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Pre-pub 1997-99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0.91%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Post-pub &gt;=2000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2.48%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1.18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3731447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Annualised. 'Pre-pub' = after the paper's sample, before publication. </a:t>
            </a:r>
          </a:p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 window is short (data start 1962).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257800" y="1508760"/>
            <a:ext cx="3474720" cy="137160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4"/>
          <p:cNvSpPr/>
          <p:nvPr/>
        </p:nvSpPr>
        <p:spPr>
          <a:xfrm>
            <a:off x="5257800" y="1508760"/>
            <a:ext cx="64008" cy="137160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5458968" y="1545336"/>
            <a:ext cx="31455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t-stat falls 4.48 -&gt; 1.18 after publication; the classic McLean-Pontiff (2016) decay.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257800" y="3017520"/>
            <a:ext cx="3474720" cy="128016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5257800" y="3017520"/>
            <a:ext cx="64008" cy="128016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5458968" y="3054096"/>
            <a:ext cx="31455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Z-Score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Never significant out-of-sample; the in-sample strength did not survive.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 D  -  SPANNING REGRESSIONS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Standard Models Price Them?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331718"/>
              </p:ext>
            </p:extLst>
          </p:nvPr>
        </p:nvGraphicFramePr>
        <p:xfrm>
          <a:off x="502920" y="1463040"/>
          <a:ext cx="4160520" cy="242773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Factor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alpha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R2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CAPM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-0.9%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-0.50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FF3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+2.7%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2.84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64%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+1.8%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0.95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41%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FF6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+3.1%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2.99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CAPM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+4.7%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4.87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14%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FF3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+4.4%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4.87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29%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-0.8%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-1.04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61%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235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F-Score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FF6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+1.2%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1.68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23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57%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018203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FF5 omitted: FF6 dominates and tells the same story</a:t>
            </a:r>
          </a:p>
          <a:p>
            <a:pPr algn="ctr"/>
            <a:endParaRPr lang="en-US" sz="950" i="1" dirty="0">
              <a:solidFill>
                <a:srgbClr val="5E6B7A"/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  <a:p>
            <a:pPr marL="0" indent="0" algn="ctr">
              <a:buNone/>
            </a:pPr>
            <a:r>
              <a:rPr lang="en-US" sz="950" i="1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Alpha annualised, t = Newey-West. q5 = Hou, Mo, Xue &amp; Zhang (2021).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4892040" y="1463040"/>
            <a:ext cx="3840480" cy="1417320"/>
          </a:xfrm>
          <a:prstGeom prst="rect">
            <a:avLst/>
          </a:prstGeom>
          <a:solidFill>
            <a:srgbClr val="0023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074920" y="1554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GRS joint test</a:t>
            </a:r>
            <a:r>
              <a:rPr lang="en-US" sz="1000" i="1" dirty="0">
                <a:solidFill>
                  <a:srgbClr val="80CFE9"/>
                </a:solidFill>
              </a:rPr>
              <a:t>  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i="1" dirty="0">
                <a:solidFill>
                  <a:srgbClr val="80CFE9"/>
                </a:solidFill>
              </a:rPr>
              <a:t>H0: both factors' alphas = 0; 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0CFE9"/>
                </a:solidFill>
              </a:rPr>
              <a:t>run per model on { Z-Score , F-Score }:</a:t>
            </a:r>
            <a:endParaRPr lang="en-US" sz="1150" b="1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CAPM, FF3, FF5, FF6  rejected (p &lt; 0.01)</a:t>
            </a:r>
            <a:endParaRPr lang="en-US" sz="1200" b="1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0CFE9"/>
                </a:solidFill>
              </a:rPr>
              <a:t>q5 p = 0.32  -&gt; NOT rejected</a:t>
            </a:r>
            <a:endParaRPr lang="en-US" sz="12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Only q5 prices both factors jointly.</a:t>
            </a:r>
            <a:endParaRPr lang="en-US" sz="1400" b="1" dirty="0"/>
          </a:p>
        </p:txBody>
      </p:sp>
      <p:sp>
        <p:nvSpPr>
          <p:cNvPr id="5" name="Shape 5"/>
          <p:cNvSpPr/>
          <p:nvPr/>
        </p:nvSpPr>
        <p:spPr>
          <a:xfrm>
            <a:off x="4892040" y="3035808"/>
            <a:ext cx="3840480" cy="886968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4892040" y="3035808"/>
            <a:ext cx="64008" cy="886968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5093208" y="3072384"/>
            <a:ext cx="3511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F-Score's premium is absorbed by q5 profitability</a:t>
            </a: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(ROE beta = 0.52, t = 9.5).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92040" y="4005072"/>
            <a:ext cx="3840480" cy="886968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4892040" y="4005072"/>
            <a:ext cx="64008" cy="886968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5093208" y="4041648"/>
            <a:ext cx="3511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Z-Score loads strongly negative on value</a:t>
            </a:r>
            <a:r>
              <a:rPr lang="en-US" sz="110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(HML beta = -0.78): a growth / safety bet.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CONCLUSIONS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Is Financial Strength Priced?</a:t>
            </a:r>
            <a:endParaRPr lang="en-US" sz="2500" dirty="0"/>
          </a:p>
        </p:txBody>
      </p:sp>
      <p:pic>
        <p:nvPicPr>
          <p:cNvPr id="4" name="Image 0" descr="/home/claude/assets/wu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371600"/>
            <a:ext cx="44805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Sharpe ratio: excess returns, annualized, from 1989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73736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120640" y="1761314"/>
            <a:ext cx="361188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  </a:t>
            </a:r>
            <a:r>
              <a:rPr lang="en-US" sz="11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 is a genuine premium (t = 3.3); Z-Score is not (t = 0.2); the distress anomaly in action.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  </a:t>
            </a:r>
            <a:r>
              <a:rPr lang="en-US" sz="11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Level vs direction: the two factors are negatively correlated (-0.36).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  </a:t>
            </a:r>
            <a:r>
              <a:rPr lang="en-US" sz="11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F-Score's edge is profitability; only the q5 model spans both factors (GRS p = 0.32).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  </a:t>
            </a:r>
            <a:r>
              <a:rPr lang="en-US" sz="115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Combining adds diversification, not return: as long-short factors they sit below long-only equity benchmarks.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502920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0CFE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Note: benchmarks are long-only total-return indices (excess of RF); Z / F / Combined are long-short, zero-cost. MSCI Quality &gt; S&amp;P reflects this, so Sharpe ratios are not directly comparable.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7A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7A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2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Bibliography</a:t>
            </a:r>
            <a:endParaRPr lang="en-US" sz="2500" dirty="0"/>
          </a:p>
        </p:txBody>
      </p:sp>
      <p:pic>
        <p:nvPicPr>
          <p:cNvPr id="4" name="Image 0" descr="/home/claude/assets/wu_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"/>
            <a:ext cx="868680" cy="41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Altman, E. I. (1968). Financial ratios, discriminant analysis and the prediction of corporate bankruptcy. J. of Finance, 23(4).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Piotroski, J. D. (2000). Value investing: using historical financial statement information. J. of Accounting Research, 38.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Fama, E. F. &amp; French, K. R. (1993). Common risk factors in stocks and bonds. JFE, 33.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Fama, E. F. &amp; French, K. R. (2015). A five-factor asset pricing model. JFE, 116.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Hou, K., Mo, H., Xue, C. &amp; Zhang, L. (2021). An augmented q-factor model with expected growth. Review of Finance, 25.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Jensen, T. I., Kelly, B. T. &amp; Pedersen, L. H. (2023). Is there a replication crisis in finance? J. of Finance, 78.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54880" y="14630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Campbell, J. Y., Hilscher, J. &amp; Szilagyi, J. (2008). In search of distress risk. J. of Finance, 63.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Dichev, I. D. (1998). Is the risk of bankruptcy a systematic risk? J. of Finance, 53.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McLean, R. D. &amp; Pontiff, J. (2016). Does academic research destroy stock return predictability? J. of Finance, 71.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Asness, C., Frazzini, A. &amp; Pedersen, L. H. (2019). Quality minus junk. Review of Accounting Studies, 24.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Gibbons, M., Ross, S. &amp; Shanken, J. (1989). A test of the efficiency of a given portfolio. Econometrica, 57.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Harvey, C. R., Liu, Y. &amp; Zhu, H. (2016). ...and the cross-section of expected returns. RFS, 29.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1A22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Newey, W. K. &amp; West, K. D. (1987). A simple, positive semi-definite HAC covariance matrix. Econometrica, 55.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4800600"/>
            <a:ext cx="8229600" cy="548640"/>
          </a:xfrm>
          <a:prstGeom prst="rect">
            <a:avLst/>
          </a:prstGeom>
          <a:solidFill>
            <a:srgbClr val="E5F5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502920" y="4800600"/>
            <a:ext cx="64008" cy="548640"/>
          </a:xfrm>
          <a:prstGeom prst="rect">
            <a:avLst/>
          </a:prstGeom>
          <a:solidFill>
            <a:srgbClr val="0096D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04088" y="4837176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96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Data:  </a:t>
            </a:r>
            <a:r>
              <a:rPr lang="en-US" sz="950" dirty="0">
                <a:solidFill>
                  <a:srgbClr val="0023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Global Factor Data (jkpfactors.com), global-q.org, Ken French Data Library, Bloomberg, FRED.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5440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Asset / Risk Management I  ·  WU Vienna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321040" y="5440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1485</Words>
  <Application>Microsoft Macintosh PowerPoint</Application>
  <PresentationFormat>Presentazione su schermo (16:10)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Georgia</vt:lpstr>
      <vt:lpstr>Verdana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Altman Z-Score &amp; Piotroski F-Score</dc:title>
  <dc:subject>PptxGenJS Presentation</dc:subject>
  <dc:creator>Mirko Balli, Lorenzo Attanasio</dc:creator>
  <cp:lastModifiedBy>Balli, Mirko</cp:lastModifiedBy>
  <cp:revision>6</cp:revision>
  <dcterms:created xsi:type="dcterms:W3CDTF">2026-06-03T19:35:43Z</dcterms:created>
  <dcterms:modified xsi:type="dcterms:W3CDTF">2026-06-06T18:59:46Z</dcterms:modified>
</cp:coreProperties>
</file>